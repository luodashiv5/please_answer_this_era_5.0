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1"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27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mazaki, Nariya,（駒崎就哉□SCD〇FWD〇日本キヤリア）" userId="S::nariya.komazaki@carrier.com::c6218243-4bcc-4f9e-b731-9aea568a0686" providerId="AD" clId="Web-{749B9FAE-CF3F-EBCD-B267-42CA2D4C98D6}"/>
    <pc:docChg chg="mod">
      <pc:chgData name="Komazaki, Nariya,（駒崎就哉□SCD〇FWD〇日本キヤリア）" userId="S::nariya.komazaki@carrier.com::c6218243-4bcc-4f9e-b731-9aea568a0686" providerId="AD" clId="Web-{749B9FAE-CF3F-EBCD-B267-42CA2D4C98D6}" dt="2024-11-07T04:09:04.477" v="0" actId="33475"/>
      <pc:docMkLst>
        <pc:docMk/>
      </pc:docMkLst>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1219036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3150234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1887675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470019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2271988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4197706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1994970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2771840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1690560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2274364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2C39E1C-53B7-419F-8BFB-863D7B11D5C2}" type="datetimeFigureOut">
              <a:rPr kumimoji="1" lang="ja-JP" altLang="en-US" smtClean="0"/>
              <a:t>2024/11/6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1282644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39E1C-53B7-419F-8BFB-863D7B11D5C2}" type="datetimeFigureOut">
              <a:rPr kumimoji="1" lang="ja-JP" altLang="en-US" smtClean="0"/>
              <a:t>2024/11/6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E2E6DE-1367-463F-B499-8358900EEAFF}" type="slidenum">
              <a:rPr kumimoji="1" lang="ja-JP" altLang="en-US" smtClean="0"/>
              <a:t>‹#›</a:t>
            </a:fld>
            <a:endParaRPr kumimoji="1" lang="ja-JP" altLang="en-US"/>
          </a:p>
        </p:txBody>
      </p:sp>
    </p:spTree>
    <p:extLst>
      <p:ext uri="{BB962C8B-B14F-4D97-AF65-F5344CB8AC3E}">
        <p14:creationId xmlns:p14="http://schemas.microsoft.com/office/powerpoint/2010/main" val="3939683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2294294" y="933417"/>
            <a:ext cx="432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00</a:t>
            </a:r>
            <a:endParaRPr kumimoji="1" lang="ja-JP" altLang="en-US" sz="1400" dirty="0">
              <a:latin typeface="Meiryo UI" panose="020B0604030504040204" pitchFamily="50" charset="-128"/>
              <a:ea typeface="Meiryo UI" panose="020B0604030504040204" pitchFamily="50" charset="-128"/>
            </a:endParaRPr>
          </a:p>
        </p:txBody>
      </p:sp>
      <p:sp>
        <p:nvSpPr>
          <p:cNvPr id="22" name="正方形/長方形 21"/>
          <p:cNvSpPr/>
          <p:nvPr/>
        </p:nvSpPr>
        <p:spPr>
          <a:xfrm>
            <a:off x="2294294" y="1364284"/>
            <a:ext cx="432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01</a:t>
            </a:r>
            <a:endParaRPr kumimoji="1" lang="ja-JP" altLang="en-US" sz="1400" dirty="0">
              <a:latin typeface="Meiryo UI" panose="020B0604030504040204" pitchFamily="50" charset="-128"/>
              <a:ea typeface="Meiryo UI" panose="020B0604030504040204" pitchFamily="50" charset="-128"/>
            </a:endParaRPr>
          </a:p>
        </p:txBody>
      </p:sp>
      <p:sp>
        <p:nvSpPr>
          <p:cNvPr id="34" name="正方形/長方形 33"/>
          <p:cNvSpPr/>
          <p:nvPr/>
        </p:nvSpPr>
        <p:spPr>
          <a:xfrm>
            <a:off x="4614159" y="933417"/>
            <a:ext cx="432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00</a:t>
            </a:r>
            <a:endParaRPr kumimoji="1" lang="ja-JP" altLang="en-US" sz="1400" dirty="0">
              <a:latin typeface="Meiryo UI" panose="020B0604030504040204" pitchFamily="50" charset="-128"/>
              <a:ea typeface="Meiryo UI" panose="020B0604030504040204" pitchFamily="50" charset="-128"/>
            </a:endParaRPr>
          </a:p>
        </p:txBody>
      </p:sp>
      <p:sp>
        <p:nvSpPr>
          <p:cNvPr id="35" name="正方形/長方形 34"/>
          <p:cNvSpPr/>
          <p:nvPr/>
        </p:nvSpPr>
        <p:spPr>
          <a:xfrm>
            <a:off x="4614159" y="1365417"/>
            <a:ext cx="432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01</a:t>
            </a:r>
            <a:endParaRPr kumimoji="1" lang="ja-JP" altLang="en-US" sz="1400" dirty="0">
              <a:latin typeface="Meiryo UI" panose="020B0604030504040204" pitchFamily="50" charset="-128"/>
              <a:ea typeface="Meiryo UI" panose="020B0604030504040204" pitchFamily="50" charset="-128"/>
            </a:endParaRPr>
          </a:p>
        </p:txBody>
      </p:sp>
      <p:sp>
        <p:nvSpPr>
          <p:cNvPr id="54" name="正方形/長方形 53"/>
          <p:cNvSpPr/>
          <p:nvPr/>
        </p:nvSpPr>
        <p:spPr>
          <a:xfrm>
            <a:off x="5046159" y="1759983"/>
            <a:ext cx="432000" cy="4320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02</a:t>
            </a:r>
            <a:endParaRPr kumimoji="1" lang="ja-JP" altLang="en-US" sz="1400" dirty="0">
              <a:latin typeface="Meiryo UI" panose="020B0604030504040204" pitchFamily="50" charset="-128"/>
              <a:ea typeface="Meiryo UI" panose="020B0604030504040204" pitchFamily="50" charset="-128"/>
            </a:endParaRPr>
          </a:p>
        </p:txBody>
      </p:sp>
      <p:sp>
        <p:nvSpPr>
          <p:cNvPr id="69" name="正方形/長方形 68"/>
          <p:cNvSpPr/>
          <p:nvPr/>
        </p:nvSpPr>
        <p:spPr>
          <a:xfrm>
            <a:off x="5478159" y="2201045"/>
            <a:ext cx="432000" cy="43200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03</a:t>
            </a:r>
            <a:endParaRPr kumimoji="1" lang="ja-JP" altLang="en-US" sz="1400" dirty="0">
              <a:latin typeface="Meiryo UI" panose="020B0604030504040204" pitchFamily="50" charset="-128"/>
              <a:ea typeface="Meiryo UI" panose="020B0604030504040204" pitchFamily="50" charset="-128"/>
            </a:endParaRPr>
          </a:p>
        </p:txBody>
      </p:sp>
      <p:sp>
        <p:nvSpPr>
          <p:cNvPr id="70" name="正方形/長方形 69"/>
          <p:cNvSpPr/>
          <p:nvPr/>
        </p:nvSpPr>
        <p:spPr>
          <a:xfrm>
            <a:off x="5478159" y="2633045"/>
            <a:ext cx="432000" cy="43200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04</a:t>
            </a:r>
            <a:endParaRPr kumimoji="1" lang="ja-JP" altLang="en-US" sz="1400" dirty="0">
              <a:latin typeface="Meiryo UI" panose="020B0604030504040204" pitchFamily="50" charset="-128"/>
              <a:ea typeface="Meiryo UI" panose="020B0604030504040204" pitchFamily="50" charset="-128"/>
            </a:endParaRPr>
          </a:p>
        </p:txBody>
      </p:sp>
      <p:sp>
        <p:nvSpPr>
          <p:cNvPr id="82" name="正方形/長方形 81"/>
          <p:cNvSpPr/>
          <p:nvPr/>
        </p:nvSpPr>
        <p:spPr>
          <a:xfrm>
            <a:off x="5923807" y="2200898"/>
            <a:ext cx="432000" cy="432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03</a:t>
            </a:r>
            <a:endParaRPr lang="ja-JP" altLang="en-US" sz="1400" dirty="0">
              <a:latin typeface="Meiryo UI" panose="020B0604030504040204" pitchFamily="50" charset="-128"/>
              <a:ea typeface="Meiryo UI" panose="020B0604030504040204" pitchFamily="50" charset="-128"/>
            </a:endParaRPr>
          </a:p>
        </p:txBody>
      </p:sp>
      <p:sp>
        <p:nvSpPr>
          <p:cNvPr id="83" name="正方形/長方形 82"/>
          <p:cNvSpPr/>
          <p:nvPr/>
        </p:nvSpPr>
        <p:spPr>
          <a:xfrm>
            <a:off x="5923807" y="2632898"/>
            <a:ext cx="432000" cy="432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04</a:t>
            </a:r>
            <a:endParaRPr kumimoji="1" lang="ja-JP" altLang="en-US" sz="1400" dirty="0">
              <a:latin typeface="Meiryo UI" panose="020B0604030504040204" pitchFamily="50" charset="-128"/>
              <a:ea typeface="Meiryo UI" panose="020B0604030504040204" pitchFamily="50" charset="-128"/>
            </a:endParaRPr>
          </a:p>
        </p:txBody>
      </p:sp>
      <p:sp>
        <p:nvSpPr>
          <p:cNvPr id="95" name="正方形/長方形 94"/>
          <p:cNvSpPr/>
          <p:nvPr/>
        </p:nvSpPr>
        <p:spPr>
          <a:xfrm>
            <a:off x="6355807" y="2632898"/>
            <a:ext cx="432000" cy="4320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a:t>
            </a:r>
            <a:endParaRPr lang="ja-JP" altLang="en-US" sz="1400" dirty="0">
              <a:latin typeface="Meiryo UI" panose="020B0604030504040204" pitchFamily="50" charset="-128"/>
              <a:ea typeface="Meiryo UI" panose="020B0604030504040204" pitchFamily="50" charset="-128"/>
            </a:endParaRPr>
          </a:p>
        </p:txBody>
      </p:sp>
      <p:sp>
        <p:nvSpPr>
          <p:cNvPr id="112" name="テキスト ボックス 111"/>
          <p:cNvSpPr txBox="1"/>
          <p:nvPr/>
        </p:nvSpPr>
        <p:spPr>
          <a:xfrm>
            <a:off x="4611444" y="403663"/>
            <a:ext cx="549549" cy="461665"/>
          </a:xfrm>
          <a:prstGeom prst="rect">
            <a:avLst/>
          </a:prstGeom>
          <a:noFill/>
        </p:spPr>
        <p:txBody>
          <a:bodyPr wrap="square" rtlCol="0">
            <a:spAutoFit/>
          </a:bodyPr>
          <a:lstStyle/>
          <a:p>
            <a:r>
              <a:rPr lang="ja-JP" altLang="en-US" sz="1200" dirty="0">
                <a:latin typeface="Meiryo UI" panose="020B0604030504040204" pitchFamily="50" charset="-128"/>
                <a:ea typeface="Meiryo UI" panose="020B0604030504040204" pitchFamily="50" charset="-128"/>
              </a:rPr>
              <a:t>新旧</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互換</a:t>
            </a:r>
            <a:endParaRPr kumimoji="1" lang="ja-JP" altLang="en-US" sz="1200" dirty="0">
              <a:latin typeface="Meiryo UI" panose="020B0604030504040204" pitchFamily="50" charset="-128"/>
              <a:ea typeface="Meiryo UI" panose="020B0604030504040204" pitchFamily="50" charset="-128"/>
            </a:endParaRPr>
          </a:p>
        </p:txBody>
      </p:sp>
      <p:sp>
        <p:nvSpPr>
          <p:cNvPr id="113" name="テキスト ボックス 112"/>
          <p:cNvSpPr txBox="1"/>
          <p:nvPr/>
        </p:nvSpPr>
        <p:spPr>
          <a:xfrm>
            <a:off x="5043444" y="516260"/>
            <a:ext cx="549549" cy="276999"/>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rPr>
              <a:t>共通</a:t>
            </a:r>
          </a:p>
        </p:txBody>
      </p:sp>
      <p:sp>
        <p:nvSpPr>
          <p:cNvPr id="114" name="テキスト ボックス 113"/>
          <p:cNvSpPr txBox="1"/>
          <p:nvPr/>
        </p:nvSpPr>
        <p:spPr>
          <a:xfrm>
            <a:off x="5492806" y="448378"/>
            <a:ext cx="549549" cy="461665"/>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rPr>
              <a:t>新</a:t>
            </a:r>
            <a:endParaRPr kumimoji="1"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VRF</a:t>
            </a:r>
            <a:endParaRPr kumimoji="1" lang="ja-JP" altLang="en-US" sz="1200" dirty="0">
              <a:latin typeface="Meiryo UI" panose="020B0604030504040204" pitchFamily="50" charset="-128"/>
              <a:ea typeface="Meiryo UI" panose="020B0604030504040204" pitchFamily="50" charset="-128"/>
            </a:endParaRPr>
          </a:p>
        </p:txBody>
      </p:sp>
      <p:sp>
        <p:nvSpPr>
          <p:cNvPr id="115" name="テキスト ボックス 114"/>
          <p:cNvSpPr txBox="1"/>
          <p:nvPr/>
        </p:nvSpPr>
        <p:spPr>
          <a:xfrm>
            <a:off x="5912188" y="448378"/>
            <a:ext cx="549549" cy="461665"/>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rPr>
              <a:t>新</a:t>
            </a:r>
            <a:endParaRPr kumimoji="1"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ATW</a:t>
            </a:r>
            <a:endParaRPr kumimoji="1" lang="ja-JP" altLang="en-US" sz="1200" dirty="0">
              <a:latin typeface="Meiryo UI" panose="020B0604030504040204" pitchFamily="50" charset="-128"/>
              <a:ea typeface="Meiryo UI" panose="020B0604030504040204" pitchFamily="50" charset="-128"/>
            </a:endParaRPr>
          </a:p>
        </p:txBody>
      </p:sp>
      <p:sp>
        <p:nvSpPr>
          <p:cNvPr id="116" name="テキスト ボックス 115"/>
          <p:cNvSpPr txBox="1"/>
          <p:nvPr/>
        </p:nvSpPr>
        <p:spPr>
          <a:xfrm>
            <a:off x="6374168" y="448378"/>
            <a:ext cx="549549" cy="461665"/>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rPr>
              <a:t>新</a:t>
            </a:r>
            <a:endParaRPr kumimoji="1"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CHL</a:t>
            </a:r>
            <a:endParaRPr kumimoji="1" lang="ja-JP" altLang="en-US" sz="1200" dirty="0">
              <a:latin typeface="Meiryo UI" panose="020B0604030504040204" pitchFamily="50" charset="-128"/>
              <a:ea typeface="Meiryo UI" panose="020B0604030504040204" pitchFamily="50" charset="-128"/>
            </a:endParaRPr>
          </a:p>
        </p:txBody>
      </p:sp>
      <p:sp>
        <p:nvSpPr>
          <p:cNvPr id="119" name="テキスト ボックス 118"/>
          <p:cNvSpPr txBox="1"/>
          <p:nvPr/>
        </p:nvSpPr>
        <p:spPr>
          <a:xfrm>
            <a:off x="2939756" y="15913"/>
            <a:ext cx="1482341" cy="276999"/>
          </a:xfrm>
          <a:prstGeom prst="rect">
            <a:avLst/>
          </a:prstGeom>
          <a:noFill/>
        </p:spPr>
        <p:txBody>
          <a:bodyPr wrap="square" rtlCol="0">
            <a:spAutoFit/>
          </a:bodyPr>
          <a:lstStyle/>
          <a:p>
            <a:r>
              <a:rPr lang="ja-JP" altLang="en-US" sz="1200" dirty="0">
                <a:latin typeface="Meiryo UI" panose="020B0604030504040204" pitchFamily="50" charset="-128"/>
                <a:ea typeface="Meiryo UI" panose="020B0604030504040204" pitchFamily="50" charset="-128"/>
              </a:rPr>
              <a:t>旧フレーム</a:t>
            </a:r>
            <a:endParaRPr kumimoji="1" lang="en-US" altLang="ja-JP" sz="1200" dirty="0">
              <a:latin typeface="Meiryo UI" panose="020B0604030504040204" pitchFamily="50" charset="-128"/>
              <a:ea typeface="Meiryo UI" panose="020B0604030504040204" pitchFamily="50" charset="-128"/>
            </a:endParaRPr>
          </a:p>
        </p:txBody>
      </p:sp>
      <p:sp>
        <p:nvSpPr>
          <p:cNvPr id="120" name="テキスト ボックス 119"/>
          <p:cNvSpPr txBox="1"/>
          <p:nvPr/>
        </p:nvSpPr>
        <p:spPr>
          <a:xfrm>
            <a:off x="5221686" y="-19046"/>
            <a:ext cx="1482341" cy="276999"/>
          </a:xfrm>
          <a:prstGeom prst="rect">
            <a:avLst/>
          </a:prstGeom>
          <a:noFill/>
        </p:spPr>
        <p:txBody>
          <a:bodyPr wrap="square" rtlCol="0">
            <a:spAutoFit/>
          </a:bodyPr>
          <a:lstStyle/>
          <a:p>
            <a:r>
              <a:rPr lang="ja-JP" altLang="en-US" sz="1200" dirty="0">
                <a:latin typeface="Meiryo UI" panose="020B0604030504040204" pitchFamily="50" charset="-128"/>
                <a:ea typeface="Meiryo UI" panose="020B0604030504040204" pitchFamily="50" charset="-128"/>
              </a:rPr>
              <a:t>新フレーム</a:t>
            </a:r>
            <a:endParaRPr kumimoji="1" lang="en-US" altLang="ja-JP" sz="1200" dirty="0">
              <a:latin typeface="Meiryo UI" panose="020B0604030504040204" pitchFamily="50" charset="-128"/>
              <a:ea typeface="Meiryo UI" panose="020B0604030504040204" pitchFamily="50" charset="-128"/>
            </a:endParaRPr>
          </a:p>
        </p:txBody>
      </p:sp>
      <p:sp>
        <p:nvSpPr>
          <p:cNvPr id="126" name="テキスト ボックス 125"/>
          <p:cNvSpPr txBox="1"/>
          <p:nvPr/>
        </p:nvSpPr>
        <p:spPr>
          <a:xfrm>
            <a:off x="79461" y="39206"/>
            <a:ext cx="2199213" cy="369332"/>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コマンドマップ</a:t>
            </a:r>
            <a:r>
              <a:rPr kumimoji="1" lang="en-US" altLang="ja-JP" dirty="0">
                <a:latin typeface="Meiryo UI" panose="020B0604030504040204" pitchFamily="50" charset="-128"/>
                <a:ea typeface="Meiryo UI" panose="020B0604030504040204" pitchFamily="50" charset="-128"/>
              </a:rPr>
              <a:t>】</a:t>
            </a:r>
          </a:p>
        </p:txBody>
      </p:sp>
      <p:sp>
        <p:nvSpPr>
          <p:cNvPr id="143" name="テキスト ボックス 142"/>
          <p:cNvSpPr txBox="1"/>
          <p:nvPr/>
        </p:nvSpPr>
        <p:spPr>
          <a:xfrm>
            <a:off x="2680812" y="4211878"/>
            <a:ext cx="2000228" cy="276999"/>
          </a:xfrm>
          <a:prstGeom prst="rect">
            <a:avLst/>
          </a:prstGeom>
          <a:noFill/>
        </p:spPr>
        <p:txBody>
          <a:bodyPr wrap="square" rtlCol="0">
            <a:spAutoFit/>
          </a:bodyPr>
          <a:lstStyle/>
          <a:p>
            <a:r>
              <a:rPr lang="ja-JP" altLang="en-US" sz="1200" dirty="0">
                <a:latin typeface="Meiryo UI" panose="020B0604030504040204" pitchFamily="50" charset="-128"/>
                <a:ea typeface="Meiryo UI" panose="020B0604030504040204" pitchFamily="50" charset="-128"/>
              </a:rPr>
              <a:t>コマンドコード</a:t>
            </a:r>
            <a:r>
              <a:rPr lang="en-US" altLang="ja-JP" sz="1200" dirty="0">
                <a:latin typeface="Meiryo UI" panose="020B0604030504040204" pitchFamily="50" charset="-128"/>
                <a:ea typeface="Meiryo UI" panose="020B0604030504040204" pitchFamily="50" charset="-128"/>
              </a:rPr>
              <a:t>00</a:t>
            </a: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FF</a:t>
            </a:r>
            <a:r>
              <a:rPr lang="ja-JP" altLang="en-US" sz="1200" dirty="0">
                <a:latin typeface="Meiryo UI" panose="020B0604030504040204" pitchFamily="50" charset="-128"/>
                <a:ea typeface="Meiryo UI" panose="020B0604030504040204" pitchFamily="50" charset="-128"/>
              </a:rPr>
              <a:t>は例</a:t>
            </a:r>
            <a:endParaRPr kumimoji="1" lang="en-US" altLang="ja-JP" sz="1200" dirty="0">
              <a:latin typeface="Meiryo UI" panose="020B0604030504040204" pitchFamily="50" charset="-128"/>
              <a:ea typeface="Meiryo UI" panose="020B0604030504040204" pitchFamily="50" charset="-128"/>
            </a:endParaRPr>
          </a:p>
        </p:txBody>
      </p:sp>
      <p:cxnSp>
        <p:nvCxnSpPr>
          <p:cNvPr id="144" name="直線コネクタ 143"/>
          <p:cNvCxnSpPr/>
          <p:nvPr/>
        </p:nvCxnSpPr>
        <p:spPr>
          <a:xfrm flipV="1">
            <a:off x="4611444" y="2483"/>
            <a:ext cx="0" cy="6677341"/>
          </a:xfrm>
          <a:prstGeom prst="line">
            <a:avLst/>
          </a:prstGeom>
        </p:spPr>
        <p:style>
          <a:lnRef idx="1">
            <a:schemeClr val="accent1"/>
          </a:lnRef>
          <a:fillRef idx="0">
            <a:schemeClr val="accent1"/>
          </a:fillRef>
          <a:effectRef idx="0">
            <a:schemeClr val="accent1"/>
          </a:effectRef>
          <a:fontRef idx="minor">
            <a:schemeClr val="tx1"/>
          </a:fontRef>
        </p:style>
      </p:cxnSp>
      <p:sp>
        <p:nvSpPr>
          <p:cNvPr id="155" name="テキスト ボックス 154"/>
          <p:cNvSpPr txBox="1"/>
          <p:nvPr/>
        </p:nvSpPr>
        <p:spPr>
          <a:xfrm>
            <a:off x="7795997" y="154412"/>
            <a:ext cx="4166154" cy="6894195"/>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仕様</a:t>
            </a:r>
            <a:r>
              <a:rPr kumimoji="1" lang="en-US" altLang="ja-JP" dirty="0">
                <a:latin typeface="Meiryo UI" panose="020B0604030504040204" pitchFamily="50" charset="-128"/>
                <a:ea typeface="Meiryo UI" panose="020B0604030504040204" pitchFamily="50" charset="-128"/>
              </a:rPr>
              <a:t>】</a:t>
            </a:r>
          </a:p>
          <a:p>
            <a:r>
              <a:rPr lang="ja-JP" altLang="en-US" sz="1400" dirty="0">
                <a:latin typeface="Meiryo UI" panose="020B0604030504040204" pitchFamily="50" charset="-128"/>
                <a:ea typeface="Meiryo UI" panose="020B0604030504040204" pitchFamily="50" charset="-128"/>
              </a:rPr>
              <a:t>　・ 複数の“新＊＊”で同じコマンドが定義されていた場合、</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それらは別コマンドとして扱う</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・新フレーム→旧フレーム変換を伴う中継時、デバイスコード</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を省略して送信する。なお、“互換”以外である場合は、</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そのフレームを破棄する。</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・旧フレーム→新フレーム変換を伴う中継時、デバイスコード</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“互換”を付加して送信する。</a:t>
            </a:r>
            <a:endParaRPr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・各機器は“新＊＊”のいずれか一つに属するものとし、</a:t>
            </a:r>
            <a:endParaRPr kumimoji="1"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a:t>
            </a:r>
            <a:r>
              <a:rPr kumimoji="1" lang="ja-JP" altLang="en-US" sz="1400" dirty="0">
                <a:latin typeface="Meiryo UI" panose="020B0604030504040204" pitchFamily="50" charset="-128"/>
                <a:ea typeface="Meiryo UI" panose="020B0604030504040204" pitchFamily="50" charset="-128"/>
              </a:rPr>
              <a:t>他の“新＊＊”に対しては反応しない</a:t>
            </a:r>
            <a:endParaRPr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（Ｎａｃｋ応答もなし）</a:t>
            </a:r>
            <a:endParaRPr kumimoji="1" lang="en-US" altLang="ja-JP" sz="1400" dirty="0">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⇒各ユニットが対応（応答）する必要があるコマンドは</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最大で２５６個</a:t>
            </a:r>
            <a:endParaRPr lang="en-US" altLang="ja-JP" sz="1400" strike="sngStrike"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重複禁止の運用ポリシーがあるため“互換”と“新（自身対応一つ分）”と</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共通</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を合わせて２５６となる　</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⇒システムコントローラーは接続対象とするデバイスの各個別コマンドに対応する必要があるので対応コマンドフォーマット数は２５６以上となる。</a:t>
            </a:r>
            <a:endParaRPr lang="en-US" altLang="ja-JP" sz="1400" dirty="0">
              <a:latin typeface="Meiryo UI" panose="020B0604030504040204" pitchFamily="50" charset="-128"/>
              <a:ea typeface="Meiryo UI" panose="020B0604030504040204" pitchFamily="50" charset="-128"/>
            </a:endParaRPr>
          </a:p>
          <a:p>
            <a:endParaRPr lang="en-US" altLang="ja-JP" sz="1400" dirty="0">
              <a:latin typeface="Meiryo UI" panose="020B0604030504040204" pitchFamily="50" charset="-128"/>
              <a:ea typeface="Meiryo UI" panose="020B0604030504040204" pitchFamily="50" charset="-128"/>
            </a:endParaRPr>
          </a:p>
          <a:p>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運用ポリシー</a:t>
            </a:r>
            <a:r>
              <a:rPr lang="en-US" altLang="ja-JP" dirty="0">
                <a:latin typeface="Meiryo UI" panose="020B0604030504040204" pitchFamily="50" charset="-128"/>
                <a:ea typeface="Meiryo UI" panose="020B0604030504040204" pitchFamily="50" charset="-128"/>
              </a:rPr>
              <a:t>】</a:t>
            </a:r>
          </a:p>
          <a:p>
            <a:r>
              <a:rPr lang="ja-JP" altLang="en-US" sz="1400" dirty="0">
                <a:latin typeface="Meiryo UI" panose="020B0604030504040204" pitchFamily="50" charset="-128"/>
                <a:ea typeface="Meiryo UI" panose="020B0604030504040204" pitchFamily="50" charset="-128"/>
              </a:rPr>
              <a:t>　・“共通”で使用しているコマンドは“互換” で使用</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（発番）することはできない（逆も然り）</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・“共通”</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“互換”で使用しているコマンドは“新＊＊” で使用（発番）することはできない（逆も然り）</a:t>
            </a:r>
            <a:endParaRPr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　・中継先が“旧通信”であるとき、“互換”のみ発行可とする（発行元はデバイスコードが“互換”の電文のみとすること）</a:t>
            </a:r>
            <a:endParaRPr lang="en-US" altLang="ja-JP" sz="1400" dirty="0">
              <a:latin typeface="Meiryo UI" panose="020B0604030504040204" pitchFamily="50" charset="-128"/>
              <a:ea typeface="Meiryo UI" panose="020B0604030504040204" pitchFamily="50" charset="-128"/>
            </a:endParaRPr>
          </a:p>
        </p:txBody>
      </p:sp>
      <p:sp>
        <p:nvSpPr>
          <p:cNvPr id="157" name="円/楕円 156"/>
          <p:cNvSpPr/>
          <p:nvPr/>
        </p:nvSpPr>
        <p:spPr>
          <a:xfrm>
            <a:off x="157020" y="1104156"/>
            <a:ext cx="2005747" cy="1874255"/>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読み方</a:t>
            </a:r>
            <a:r>
              <a:rPr lang="en-US" altLang="ja-JP" sz="1200" dirty="0">
                <a:solidFill>
                  <a:schemeClr val="tx1"/>
                </a:solidFill>
                <a:latin typeface="Meiryo UI" panose="020B0604030504040204" pitchFamily="50" charset="-128"/>
                <a:ea typeface="Meiryo UI" panose="020B0604030504040204" pitchFamily="50" charset="-128"/>
              </a:rPr>
              <a:t>】</a:t>
            </a:r>
          </a:p>
          <a:p>
            <a:pPr algn="ctr"/>
            <a:r>
              <a:rPr lang="ja-JP" altLang="en-US"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色違いは</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別コマンドフォーマット</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lang="ja-JP" altLang="en-US" sz="1200" dirty="0">
                <a:solidFill>
                  <a:schemeClr val="tx1"/>
                </a:solidFill>
                <a:latin typeface="Meiryo UI" panose="020B0604030504040204" pitchFamily="50" charset="-128"/>
                <a:ea typeface="Meiryo UI" panose="020B0604030504040204" pitchFamily="50" charset="-128"/>
              </a:rPr>
              <a:t>・同色は</a:t>
            </a:r>
            <a:endParaRPr lang="en-US" altLang="ja-JP" sz="1200" dirty="0">
              <a:solidFill>
                <a:schemeClr val="tx1"/>
              </a:solidFill>
              <a:latin typeface="Meiryo UI" panose="020B0604030504040204" pitchFamily="50" charset="-128"/>
              <a:ea typeface="Meiryo UI" panose="020B0604030504040204" pitchFamily="50" charset="-128"/>
            </a:endParaRPr>
          </a:p>
          <a:p>
            <a:pPr algn="ctr"/>
            <a:r>
              <a:rPr lang="ja-JP" altLang="en-US" sz="1200" dirty="0">
                <a:solidFill>
                  <a:schemeClr val="tx1"/>
                </a:solidFill>
                <a:latin typeface="Meiryo UI" panose="020B0604030504040204" pitchFamily="50" charset="-128"/>
                <a:ea typeface="Meiryo UI" panose="020B0604030504040204" pitchFamily="50" charset="-128"/>
              </a:rPr>
              <a:t>同一コマンドフォーマット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49" name="直線コネクタ 48"/>
          <p:cNvCxnSpPr/>
          <p:nvPr/>
        </p:nvCxnSpPr>
        <p:spPr>
          <a:xfrm flipV="1">
            <a:off x="2275959" y="0"/>
            <a:ext cx="0" cy="66773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a:off x="4605790" y="218813"/>
            <a:ext cx="2579966" cy="0"/>
          </a:xfrm>
          <a:prstGeom prst="line">
            <a:avLst/>
          </a:prstGeom>
        </p:spPr>
        <p:style>
          <a:lnRef idx="1">
            <a:schemeClr val="accent1"/>
          </a:lnRef>
          <a:fillRef idx="0">
            <a:schemeClr val="accent1"/>
          </a:fillRef>
          <a:effectRef idx="0">
            <a:schemeClr val="accent1"/>
          </a:effectRef>
          <a:fontRef idx="minor">
            <a:schemeClr val="tx1"/>
          </a:fontRef>
        </p:style>
      </p:cxnSp>
      <p:sp>
        <p:nvSpPr>
          <p:cNvPr id="51" name="正方形/長方形 50"/>
          <p:cNvSpPr/>
          <p:nvPr/>
        </p:nvSpPr>
        <p:spPr>
          <a:xfrm>
            <a:off x="6356933" y="2199898"/>
            <a:ext cx="432000" cy="4320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latin typeface="Meiryo UI" panose="020B0604030504040204" pitchFamily="50" charset="-128"/>
                <a:ea typeface="Meiryo UI" panose="020B0604030504040204" pitchFamily="50" charset="-128"/>
              </a:rPr>
              <a:t>03</a:t>
            </a:r>
            <a:endParaRPr lang="ja-JP" altLang="en-US" sz="1400" dirty="0">
              <a:latin typeface="Meiryo UI" panose="020B0604030504040204" pitchFamily="50" charset="-128"/>
              <a:ea typeface="Meiryo UI" panose="020B0604030504040204" pitchFamily="50" charset="-128"/>
            </a:endParaRPr>
          </a:p>
        </p:txBody>
      </p:sp>
      <p:cxnSp>
        <p:nvCxnSpPr>
          <p:cNvPr id="56" name="直線コネクタ 55"/>
          <p:cNvCxnSpPr/>
          <p:nvPr/>
        </p:nvCxnSpPr>
        <p:spPr>
          <a:xfrm flipV="1">
            <a:off x="5060806" y="226152"/>
            <a:ext cx="0" cy="65545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p:nvCxnSpPr>
        <p:spPr>
          <a:xfrm flipV="1">
            <a:off x="5472863" y="238320"/>
            <a:ext cx="19943" cy="6501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V="1">
            <a:off x="5918152" y="448378"/>
            <a:ext cx="0" cy="63459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flipV="1">
            <a:off x="6330209" y="448378"/>
            <a:ext cx="0" cy="634598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線コネクタ 59"/>
          <p:cNvCxnSpPr/>
          <p:nvPr/>
        </p:nvCxnSpPr>
        <p:spPr>
          <a:xfrm flipV="1">
            <a:off x="6773699" y="238320"/>
            <a:ext cx="10364" cy="6501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a:off x="354753" y="933417"/>
            <a:ext cx="6925455" cy="0"/>
          </a:xfrm>
          <a:prstGeom prst="line">
            <a:avLst/>
          </a:prstGeom>
        </p:spPr>
        <p:style>
          <a:lnRef idx="1">
            <a:schemeClr val="accent1"/>
          </a:lnRef>
          <a:fillRef idx="0">
            <a:schemeClr val="accent1"/>
          </a:fillRef>
          <a:effectRef idx="0">
            <a:schemeClr val="accent1"/>
          </a:effectRef>
          <a:fontRef idx="minor">
            <a:schemeClr val="tx1"/>
          </a:fontRef>
        </p:style>
      </p:cxnSp>
      <p:sp>
        <p:nvSpPr>
          <p:cNvPr id="65" name="テキスト ボックス 64"/>
          <p:cNvSpPr txBox="1"/>
          <p:nvPr/>
        </p:nvSpPr>
        <p:spPr>
          <a:xfrm>
            <a:off x="2679583" y="2041284"/>
            <a:ext cx="1976657" cy="1400383"/>
          </a:xfrm>
          <a:prstGeom prst="rect">
            <a:avLst/>
          </a:prstGeom>
          <a:noFill/>
        </p:spPr>
        <p:txBody>
          <a:bodyPr wrap="square" rtlCol="0">
            <a:spAutoFit/>
          </a:bodyPr>
          <a:lstStyle/>
          <a:p>
            <a:pPr algn="ctr"/>
            <a:r>
              <a:rPr kumimoji="1" lang="ja-JP" altLang="en-US" sz="4000" dirty="0">
                <a:latin typeface="Meiryo UI" panose="020B0604030504040204" pitchFamily="50" charset="-128"/>
                <a:ea typeface="Meiryo UI" panose="020B0604030504040204" pitchFamily="50" charset="-128"/>
              </a:rPr>
              <a:t>＝</a:t>
            </a:r>
            <a:endParaRPr kumimoji="1" lang="en-US" altLang="ja-JP" sz="4000" dirty="0">
              <a:latin typeface="Meiryo UI" panose="020B0604030504040204" pitchFamily="50" charset="-128"/>
              <a:ea typeface="Meiryo UI" panose="020B0604030504040204" pitchFamily="50" charset="-128"/>
            </a:endParaRPr>
          </a:p>
          <a:p>
            <a:pPr algn="ct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コマンド内の</a:t>
            </a:r>
            <a:endParaRPr kumimoji="1" lang="en-US" altLang="ja-JP" sz="1100" dirty="0">
              <a:latin typeface="Meiryo UI" panose="020B0604030504040204" pitchFamily="50" charset="-128"/>
              <a:ea typeface="Meiryo UI" panose="020B0604030504040204" pitchFamily="50" charset="-128"/>
            </a:endParaRPr>
          </a:p>
          <a:p>
            <a:pPr algn="ctr"/>
            <a:r>
              <a:rPr kumimoji="1" lang="ja-JP" altLang="en-US" sz="1100" dirty="0">
                <a:latin typeface="Meiryo UI" panose="020B0604030504040204" pitchFamily="50" charset="-128"/>
                <a:ea typeface="Meiryo UI" panose="020B0604030504040204" pitchFamily="50" charset="-128"/>
              </a:rPr>
              <a:t>フォーマットは同一</a:t>
            </a:r>
            <a:endParaRPr kumimoji="1" lang="en-US" altLang="ja-JP" sz="1100" dirty="0">
              <a:latin typeface="Meiryo UI" panose="020B0604030504040204" pitchFamily="50" charset="-128"/>
              <a:ea typeface="Meiryo UI" panose="020B0604030504040204" pitchFamily="50" charset="-128"/>
            </a:endParaRPr>
          </a:p>
          <a:p>
            <a:pPr algn="ctr"/>
            <a:r>
              <a:rPr lang="ja-JP" altLang="en-US" sz="1100" dirty="0">
                <a:latin typeface="Meiryo UI" panose="020B0604030504040204" pitchFamily="50" charset="-128"/>
                <a:ea typeface="Meiryo UI" panose="020B0604030504040204" pitchFamily="50" charset="-128"/>
              </a:rPr>
              <a:t>⇒フレーム変換が可能</a:t>
            </a:r>
            <a:endParaRPr kumimoji="1" lang="en-US" altLang="ja-JP" sz="1100" dirty="0">
              <a:latin typeface="Meiryo UI" panose="020B0604030504040204" pitchFamily="50" charset="-128"/>
              <a:ea typeface="Meiryo UI" panose="020B0604030504040204" pitchFamily="50" charset="-128"/>
            </a:endParaRPr>
          </a:p>
          <a:p>
            <a:endParaRPr kumimoji="1" lang="en-US" altLang="ja-JP" sz="1200" dirty="0">
              <a:latin typeface="Meiryo UI" panose="020B0604030504040204" pitchFamily="50" charset="-128"/>
              <a:ea typeface="Meiryo UI" panose="020B0604030504040204" pitchFamily="50" charset="-128"/>
            </a:endParaRPr>
          </a:p>
        </p:txBody>
      </p:sp>
      <p:sp>
        <p:nvSpPr>
          <p:cNvPr id="7" name="右中かっこ 6"/>
          <p:cNvSpPr/>
          <p:nvPr/>
        </p:nvSpPr>
        <p:spPr>
          <a:xfrm>
            <a:off x="2726499" y="933417"/>
            <a:ext cx="439993" cy="300833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7" name="右中かっこ 66"/>
          <p:cNvSpPr/>
          <p:nvPr/>
        </p:nvSpPr>
        <p:spPr>
          <a:xfrm rot="10800000">
            <a:off x="4067227" y="939801"/>
            <a:ext cx="439993" cy="3008339"/>
          </a:xfrm>
          <a:prstGeom prst="rightBrace">
            <a:avLst>
              <a:gd name="adj1" fmla="val 8333"/>
              <a:gd name="adj2" fmla="val 52107"/>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2" name="正方形/長方形 71"/>
          <p:cNvSpPr/>
          <p:nvPr/>
        </p:nvSpPr>
        <p:spPr>
          <a:xfrm>
            <a:off x="5064124" y="3063762"/>
            <a:ext cx="1694342" cy="43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Meiryo UI" panose="020B0604030504040204" pitchFamily="50" charset="-128"/>
                <a:ea typeface="Meiryo UI" panose="020B0604030504040204" pitchFamily="50" charset="-128"/>
              </a:rPr>
              <a:t>・・・</a:t>
            </a:r>
          </a:p>
        </p:txBody>
      </p:sp>
      <p:sp>
        <p:nvSpPr>
          <p:cNvPr id="64" name="正方形/長方形 63"/>
          <p:cNvSpPr/>
          <p:nvPr/>
        </p:nvSpPr>
        <p:spPr>
          <a:xfrm>
            <a:off x="4614309" y="3520619"/>
            <a:ext cx="432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FF</a:t>
            </a:r>
            <a:endParaRPr kumimoji="1" lang="ja-JP" altLang="en-US" sz="1400" dirty="0">
              <a:latin typeface="Meiryo UI" panose="020B0604030504040204" pitchFamily="50" charset="-128"/>
              <a:ea typeface="Meiryo UI" panose="020B0604030504040204" pitchFamily="50" charset="-128"/>
            </a:endParaRPr>
          </a:p>
        </p:txBody>
      </p:sp>
      <p:sp>
        <p:nvSpPr>
          <p:cNvPr id="71" name="正方形/長方形 70"/>
          <p:cNvSpPr/>
          <p:nvPr/>
        </p:nvSpPr>
        <p:spPr>
          <a:xfrm>
            <a:off x="4619438" y="3085239"/>
            <a:ext cx="445153" cy="43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a:t>
            </a:r>
          </a:p>
        </p:txBody>
      </p:sp>
      <p:sp>
        <p:nvSpPr>
          <p:cNvPr id="78" name="正方形/長方形 77"/>
          <p:cNvSpPr/>
          <p:nvPr/>
        </p:nvSpPr>
        <p:spPr>
          <a:xfrm>
            <a:off x="5050156" y="930682"/>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80" name="正方形/長方形 79"/>
          <p:cNvSpPr/>
          <p:nvPr/>
        </p:nvSpPr>
        <p:spPr>
          <a:xfrm>
            <a:off x="2294294" y="3518617"/>
            <a:ext cx="432000" cy="43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Meiryo UI" panose="020B0604030504040204" pitchFamily="50" charset="-128"/>
                <a:ea typeface="Meiryo UI" panose="020B0604030504040204" pitchFamily="50" charset="-128"/>
              </a:rPr>
              <a:t>FF</a:t>
            </a:r>
            <a:endParaRPr kumimoji="1" lang="ja-JP" altLang="en-US" sz="1400" dirty="0">
              <a:latin typeface="Meiryo UI" panose="020B0604030504040204" pitchFamily="50" charset="-128"/>
              <a:ea typeface="Meiryo UI" panose="020B0604030504040204" pitchFamily="50" charset="-128"/>
            </a:endParaRPr>
          </a:p>
        </p:txBody>
      </p:sp>
      <p:sp>
        <p:nvSpPr>
          <p:cNvPr id="81" name="正方形/長方形 80"/>
          <p:cNvSpPr/>
          <p:nvPr/>
        </p:nvSpPr>
        <p:spPr>
          <a:xfrm>
            <a:off x="2287718" y="3087752"/>
            <a:ext cx="445153" cy="43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a:t>
            </a:r>
          </a:p>
        </p:txBody>
      </p:sp>
      <p:cxnSp>
        <p:nvCxnSpPr>
          <p:cNvPr id="92" name="直線コネクタ 91"/>
          <p:cNvCxnSpPr/>
          <p:nvPr/>
        </p:nvCxnSpPr>
        <p:spPr>
          <a:xfrm flipV="1">
            <a:off x="5468523" y="437256"/>
            <a:ext cx="1319284" cy="8056"/>
          </a:xfrm>
          <a:prstGeom prst="line">
            <a:avLst/>
          </a:prstGeom>
        </p:spPr>
        <p:style>
          <a:lnRef idx="1">
            <a:schemeClr val="accent1"/>
          </a:lnRef>
          <a:fillRef idx="0">
            <a:schemeClr val="accent1"/>
          </a:fillRef>
          <a:effectRef idx="0">
            <a:schemeClr val="accent1"/>
          </a:effectRef>
          <a:fontRef idx="minor">
            <a:schemeClr val="tx1"/>
          </a:fontRef>
        </p:style>
      </p:cxnSp>
      <p:sp>
        <p:nvSpPr>
          <p:cNvPr id="93" name="テキスト ボックス 92"/>
          <p:cNvSpPr txBox="1"/>
          <p:nvPr/>
        </p:nvSpPr>
        <p:spPr>
          <a:xfrm>
            <a:off x="5890456" y="239800"/>
            <a:ext cx="549549" cy="276999"/>
          </a:xfrm>
          <a:prstGeom prst="rect">
            <a:avLst/>
          </a:prstGeom>
          <a:noFill/>
        </p:spPr>
        <p:txBody>
          <a:bodyPr wrap="square" rtlCol="0">
            <a:spAutoFit/>
          </a:bodyPr>
          <a:lstStyle/>
          <a:p>
            <a:r>
              <a:rPr lang="ja-JP" altLang="en-US" sz="1200" dirty="0">
                <a:latin typeface="Meiryo UI" panose="020B0604030504040204" pitchFamily="50" charset="-128"/>
                <a:ea typeface="Meiryo UI" panose="020B0604030504040204" pitchFamily="50" charset="-128"/>
              </a:rPr>
              <a:t>個別</a:t>
            </a:r>
            <a:endParaRPr kumimoji="1" lang="ja-JP" altLang="en-US" sz="1200" dirty="0">
              <a:latin typeface="Meiryo UI" panose="020B0604030504040204" pitchFamily="50" charset="-128"/>
              <a:ea typeface="Meiryo UI" panose="020B0604030504040204" pitchFamily="50" charset="-128"/>
            </a:endParaRPr>
          </a:p>
        </p:txBody>
      </p:sp>
      <p:cxnSp>
        <p:nvCxnSpPr>
          <p:cNvPr id="12" name="直線矢印コネクタ 11"/>
          <p:cNvCxnSpPr>
            <a:endCxn id="80" idx="2"/>
          </p:cNvCxnSpPr>
          <p:nvPr/>
        </p:nvCxnSpPr>
        <p:spPr>
          <a:xfrm flipH="1" flipV="1">
            <a:off x="2510294" y="3950617"/>
            <a:ext cx="182433" cy="2612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テキスト ボックス 74"/>
          <p:cNvSpPr txBox="1"/>
          <p:nvPr/>
        </p:nvSpPr>
        <p:spPr>
          <a:xfrm>
            <a:off x="6811007" y="3287378"/>
            <a:ext cx="996251" cy="830997"/>
          </a:xfrm>
          <a:prstGeom prst="rect">
            <a:avLst/>
          </a:prstGeom>
          <a:solidFill>
            <a:schemeClr val="bg1"/>
          </a:solidFill>
        </p:spPr>
        <p:txBody>
          <a:bodyPr wrap="square" rtlCol="0">
            <a:spAutoFit/>
          </a:bodyPr>
          <a:lstStyle/>
          <a:p>
            <a:r>
              <a:rPr lang="ja-JP" altLang="en-US" sz="1200" dirty="0">
                <a:latin typeface="Meiryo UI" panose="020B0604030504040204" pitchFamily="50" charset="-128"/>
                <a:ea typeface="Meiryo UI" panose="020B0604030504040204" pitchFamily="50" charset="-128"/>
              </a:rPr>
              <a:t>デバイスコードによっては対応しないコマンドもある</a:t>
            </a:r>
            <a:endParaRPr kumimoji="1" lang="en-US" altLang="ja-JP" sz="1200" dirty="0">
              <a:latin typeface="Meiryo UI" panose="020B0604030504040204" pitchFamily="50" charset="-128"/>
              <a:ea typeface="Meiryo UI" panose="020B0604030504040204" pitchFamily="50" charset="-128"/>
            </a:endParaRPr>
          </a:p>
        </p:txBody>
      </p:sp>
      <p:cxnSp>
        <p:nvCxnSpPr>
          <p:cNvPr id="76" name="直線矢印コネクタ 75"/>
          <p:cNvCxnSpPr/>
          <p:nvPr/>
        </p:nvCxnSpPr>
        <p:spPr>
          <a:xfrm flipH="1" flipV="1">
            <a:off x="6755260" y="3015044"/>
            <a:ext cx="279777" cy="2647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右中かっこ 3"/>
          <p:cNvSpPr/>
          <p:nvPr/>
        </p:nvSpPr>
        <p:spPr>
          <a:xfrm rot="5400000">
            <a:off x="5958093" y="3556385"/>
            <a:ext cx="335083" cy="126565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6" name="テキスト ボックス 95"/>
          <p:cNvSpPr txBox="1"/>
          <p:nvPr/>
        </p:nvSpPr>
        <p:spPr>
          <a:xfrm>
            <a:off x="5562599" y="4379405"/>
            <a:ext cx="1186840" cy="830997"/>
          </a:xfrm>
          <a:prstGeom prst="rect">
            <a:avLst/>
          </a:prstGeom>
          <a:solidFill>
            <a:schemeClr val="bg1"/>
          </a:solidFill>
        </p:spPr>
        <p:txBody>
          <a:bodyPr wrap="square" rtlCol="0">
            <a:spAutoFit/>
          </a:bodyPr>
          <a:lstStyle/>
          <a:p>
            <a:r>
              <a:rPr lang="ja-JP" altLang="en-US" sz="1200" dirty="0">
                <a:latin typeface="Meiryo UI" panose="020B0604030504040204" pitchFamily="50" charset="-128"/>
                <a:ea typeface="Meiryo UI" panose="020B0604030504040204" pitchFamily="50" charset="-128"/>
              </a:rPr>
              <a:t>同じコマンドコードでもデバイス毎にデータフォーマットはバラバラ</a:t>
            </a:r>
            <a:endParaRPr kumimoji="1" lang="en-US" altLang="ja-JP" sz="1200" dirty="0">
              <a:latin typeface="Meiryo UI" panose="020B0604030504040204" pitchFamily="50" charset="-128"/>
              <a:ea typeface="Meiryo UI" panose="020B0604030504040204" pitchFamily="50" charset="-128"/>
            </a:endParaRPr>
          </a:p>
        </p:txBody>
      </p:sp>
      <p:sp>
        <p:nvSpPr>
          <p:cNvPr id="94" name="正方形/長方形 93"/>
          <p:cNvSpPr/>
          <p:nvPr/>
        </p:nvSpPr>
        <p:spPr>
          <a:xfrm>
            <a:off x="5039505" y="1344528"/>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97" name="正方形/長方形 96"/>
          <p:cNvSpPr/>
          <p:nvPr/>
        </p:nvSpPr>
        <p:spPr>
          <a:xfrm>
            <a:off x="2294294" y="1795151"/>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98" name="正方形/長方形 97"/>
          <p:cNvSpPr/>
          <p:nvPr/>
        </p:nvSpPr>
        <p:spPr>
          <a:xfrm>
            <a:off x="2294294" y="2226018"/>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99" name="正方形/長方形 98"/>
          <p:cNvSpPr/>
          <p:nvPr/>
        </p:nvSpPr>
        <p:spPr>
          <a:xfrm>
            <a:off x="2294294" y="2656885"/>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100" name="正方形/長方形 99"/>
          <p:cNvSpPr/>
          <p:nvPr/>
        </p:nvSpPr>
        <p:spPr>
          <a:xfrm>
            <a:off x="5048031" y="2206611"/>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101" name="正方形/長方形 100"/>
          <p:cNvSpPr/>
          <p:nvPr/>
        </p:nvSpPr>
        <p:spPr>
          <a:xfrm>
            <a:off x="5039505" y="2621024"/>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102" name="正方形/長方形 101"/>
          <p:cNvSpPr/>
          <p:nvPr/>
        </p:nvSpPr>
        <p:spPr>
          <a:xfrm>
            <a:off x="5032122" y="3509756"/>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103" name="正方形/長方形 102"/>
          <p:cNvSpPr/>
          <p:nvPr/>
        </p:nvSpPr>
        <p:spPr>
          <a:xfrm>
            <a:off x="4616813" y="1783710"/>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104" name="正方形/長方形 103"/>
          <p:cNvSpPr/>
          <p:nvPr/>
        </p:nvSpPr>
        <p:spPr>
          <a:xfrm>
            <a:off x="4625494" y="2215710"/>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105" name="正方形/長方形 104"/>
          <p:cNvSpPr/>
          <p:nvPr/>
        </p:nvSpPr>
        <p:spPr>
          <a:xfrm>
            <a:off x="4598439" y="2621024"/>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dirty="0" err="1">
                <a:latin typeface="Meiryo UI" panose="020B0604030504040204" pitchFamily="50" charset="-128"/>
                <a:ea typeface="Meiryo UI" panose="020B0604030504040204" pitchFamily="50" charset="-128"/>
              </a:rPr>
              <a:t>Nack</a:t>
            </a:r>
            <a:endParaRPr lang="ja-JP" altLang="en-US" sz="800" dirty="0">
              <a:latin typeface="Meiryo UI" panose="020B0604030504040204" pitchFamily="50" charset="-128"/>
              <a:ea typeface="Meiryo UI" panose="020B0604030504040204" pitchFamily="50" charset="-128"/>
            </a:endParaRPr>
          </a:p>
        </p:txBody>
      </p:sp>
      <p:sp>
        <p:nvSpPr>
          <p:cNvPr id="106" name="正方形/長方形 105"/>
          <p:cNvSpPr/>
          <p:nvPr/>
        </p:nvSpPr>
        <p:spPr>
          <a:xfrm>
            <a:off x="5490787" y="924223"/>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07" name="正方形/長方形 106"/>
          <p:cNvSpPr/>
          <p:nvPr/>
        </p:nvSpPr>
        <p:spPr>
          <a:xfrm>
            <a:off x="5910603" y="915926"/>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08" name="正方形/長方形 107"/>
          <p:cNvSpPr/>
          <p:nvPr/>
        </p:nvSpPr>
        <p:spPr>
          <a:xfrm>
            <a:off x="6339275" y="924883"/>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09" name="正方形/長方形 108"/>
          <p:cNvSpPr/>
          <p:nvPr/>
        </p:nvSpPr>
        <p:spPr>
          <a:xfrm>
            <a:off x="5490787" y="1362101"/>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10" name="正方形/長方形 109"/>
          <p:cNvSpPr/>
          <p:nvPr/>
        </p:nvSpPr>
        <p:spPr>
          <a:xfrm>
            <a:off x="5910603" y="1353804"/>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11" name="正方形/長方形 110"/>
          <p:cNvSpPr/>
          <p:nvPr/>
        </p:nvSpPr>
        <p:spPr>
          <a:xfrm>
            <a:off x="6339275" y="1362761"/>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17" name="正方形/長方形 116"/>
          <p:cNvSpPr/>
          <p:nvPr/>
        </p:nvSpPr>
        <p:spPr>
          <a:xfrm>
            <a:off x="5490787" y="1797040"/>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18" name="正方形/長方形 117"/>
          <p:cNvSpPr/>
          <p:nvPr/>
        </p:nvSpPr>
        <p:spPr>
          <a:xfrm>
            <a:off x="5910603" y="1788743"/>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21" name="正方形/長方形 120"/>
          <p:cNvSpPr/>
          <p:nvPr/>
        </p:nvSpPr>
        <p:spPr>
          <a:xfrm>
            <a:off x="6339275" y="1797700"/>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22" name="正方形/長方形 121"/>
          <p:cNvSpPr/>
          <p:nvPr/>
        </p:nvSpPr>
        <p:spPr>
          <a:xfrm>
            <a:off x="5481295" y="3484850"/>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23" name="正方形/長方形 122"/>
          <p:cNvSpPr/>
          <p:nvPr/>
        </p:nvSpPr>
        <p:spPr>
          <a:xfrm>
            <a:off x="5901111" y="3476553"/>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24" name="正方形/長方形 123"/>
          <p:cNvSpPr/>
          <p:nvPr/>
        </p:nvSpPr>
        <p:spPr>
          <a:xfrm>
            <a:off x="6329783" y="3485510"/>
            <a:ext cx="432000" cy="4320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800" dirty="0" err="1">
                <a:latin typeface="Meiryo UI" panose="020B0604030504040204" pitchFamily="50" charset="-128"/>
                <a:ea typeface="Meiryo UI" panose="020B0604030504040204" pitchFamily="50" charset="-128"/>
              </a:rPr>
              <a:t>Nack</a:t>
            </a:r>
            <a:endParaRPr lang="en-US" altLang="ja-JP" sz="800" dirty="0">
              <a:latin typeface="Meiryo UI" panose="020B0604030504040204" pitchFamily="50" charset="-128"/>
              <a:ea typeface="Meiryo UI" panose="020B0604030504040204" pitchFamily="50" charset="-128"/>
            </a:endParaRPr>
          </a:p>
          <a:p>
            <a:pPr algn="ctr"/>
            <a:r>
              <a:rPr lang="en-US" altLang="ja-JP" sz="800" dirty="0">
                <a:latin typeface="Meiryo UI" panose="020B0604030504040204" pitchFamily="50" charset="-128"/>
                <a:ea typeface="Meiryo UI" panose="020B0604030504040204" pitchFamily="50" charset="-128"/>
              </a:rPr>
              <a:t>/</a:t>
            </a:r>
          </a:p>
          <a:p>
            <a:pPr algn="ctr"/>
            <a:r>
              <a:rPr lang="ja-JP" altLang="en-US" sz="800" dirty="0">
                <a:latin typeface="Meiryo UI" panose="020B0604030504040204" pitchFamily="50" charset="-128"/>
                <a:ea typeface="Meiryo UI" panose="020B0604030504040204" pitchFamily="50" charset="-128"/>
              </a:rPr>
              <a:t>無応答</a:t>
            </a:r>
          </a:p>
        </p:txBody>
      </p:sp>
      <p:sp>
        <p:nvSpPr>
          <p:cNvPr id="125" name="テキスト ボックス 124"/>
          <p:cNvSpPr txBox="1"/>
          <p:nvPr/>
        </p:nvSpPr>
        <p:spPr>
          <a:xfrm>
            <a:off x="3010992" y="5314335"/>
            <a:ext cx="4366037" cy="1384995"/>
          </a:xfrm>
          <a:prstGeom prst="rect">
            <a:avLst/>
          </a:prstGeom>
          <a:solidFill>
            <a:schemeClr val="bg1"/>
          </a:solidFill>
        </p:spPr>
        <p:txBody>
          <a:bodyPr wrap="square" rtlCol="0">
            <a:spAutoFit/>
          </a:bodyPr>
          <a:lstStyle/>
          <a:p>
            <a:r>
              <a:rPr lang="ja-JP" altLang="en-US" sz="1200" dirty="0">
                <a:solidFill>
                  <a:srgbClr val="FF0000"/>
                </a:solidFill>
                <a:latin typeface="Meiryo UI" panose="020B0604030504040204" pitchFamily="50" charset="-128"/>
                <a:ea typeface="Meiryo UI" panose="020B0604030504040204" pitchFamily="50" charset="-128"/>
              </a:rPr>
              <a:t>新</a:t>
            </a:r>
            <a:r>
              <a:rPr lang="en-US" altLang="ja-JP" sz="1200" dirty="0">
                <a:solidFill>
                  <a:srgbClr val="FF0000"/>
                </a:solidFill>
                <a:latin typeface="Meiryo UI" panose="020B0604030504040204" pitchFamily="50" charset="-128"/>
                <a:ea typeface="Meiryo UI" panose="020B0604030504040204" pitchFamily="50" charset="-128"/>
              </a:rPr>
              <a:t>TCC-Link</a:t>
            </a:r>
            <a:r>
              <a:rPr lang="ja-JP" altLang="en-US" sz="1200" dirty="0">
                <a:solidFill>
                  <a:srgbClr val="FF0000"/>
                </a:solidFill>
                <a:latin typeface="Meiryo UI" panose="020B0604030504040204" pitchFamily="50" charset="-128"/>
                <a:ea typeface="Meiryo UI" panose="020B0604030504040204" pitchFamily="50" charset="-128"/>
              </a:rPr>
              <a:t>対応機種は個別のいずれかに属する</a:t>
            </a:r>
            <a:endParaRPr lang="en-US" altLang="ja-JP" sz="1200" dirty="0">
              <a:solidFill>
                <a:srgbClr val="FF0000"/>
              </a:solidFill>
              <a:latin typeface="Meiryo UI" panose="020B0604030504040204" pitchFamily="50" charset="-128"/>
              <a:ea typeface="Meiryo UI" panose="020B0604030504040204" pitchFamily="50" charset="-128"/>
            </a:endParaRPr>
          </a:p>
          <a:p>
            <a:r>
              <a:rPr lang="ja-JP" altLang="en-US" sz="1200" dirty="0">
                <a:solidFill>
                  <a:srgbClr val="FF0000"/>
                </a:solidFill>
                <a:latin typeface="Meiryo UI" panose="020B0604030504040204" pitchFamily="50" charset="-128"/>
                <a:ea typeface="Meiryo UI" panose="020B0604030504040204" pitchFamily="50" charset="-128"/>
              </a:rPr>
              <a:t>・デバイスグループが新旧互換、もしくは共通</a:t>
            </a:r>
            <a:endParaRPr lang="en-US" altLang="ja-JP" sz="1200" dirty="0">
              <a:solidFill>
                <a:srgbClr val="FF0000"/>
              </a:solidFill>
              <a:latin typeface="Meiryo UI" panose="020B0604030504040204" pitchFamily="50" charset="-128"/>
              <a:ea typeface="Meiryo UI" panose="020B0604030504040204" pitchFamily="50" charset="-128"/>
            </a:endParaRPr>
          </a:p>
          <a:p>
            <a:r>
              <a:rPr lang="ja-JP" altLang="en-US" sz="1200" dirty="0">
                <a:solidFill>
                  <a:srgbClr val="FF0000"/>
                </a:solidFill>
                <a:latin typeface="Meiryo UI" panose="020B0604030504040204" pitchFamily="50" charset="-128"/>
                <a:ea typeface="Meiryo UI" panose="020B0604030504040204" pitchFamily="50" charset="-128"/>
              </a:rPr>
              <a:t>　⇒</a:t>
            </a:r>
            <a:r>
              <a:rPr lang="en-US" altLang="ja-JP" sz="1200" dirty="0">
                <a:solidFill>
                  <a:srgbClr val="FF0000"/>
                </a:solidFill>
                <a:latin typeface="Meiryo UI" panose="020B0604030504040204" pitchFamily="50" charset="-128"/>
                <a:ea typeface="Meiryo UI" panose="020B0604030504040204" pitchFamily="50" charset="-128"/>
              </a:rPr>
              <a:t>Ack/</a:t>
            </a:r>
            <a:r>
              <a:rPr lang="en-US" altLang="ja-JP" sz="1200" dirty="0" err="1">
                <a:solidFill>
                  <a:srgbClr val="FF0000"/>
                </a:solidFill>
                <a:latin typeface="Meiryo UI" panose="020B0604030504040204" pitchFamily="50" charset="-128"/>
                <a:ea typeface="Meiryo UI" panose="020B0604030504040204" pitchFamily="50" charset="-128"/>
              </a:rPr>
              <a:t>Nack</a:t>
            </a:r>
            <a:r>
              <a:rPr lang="ja-JP" altLang="en-US" sz="1200" dirty="0">
                <a:solidFill>
                  <a:srgbClr val="FF0000"/>
                </a:solidFill>
                <a:latin typeface="Meiryo UI" panose="020B0604030504040204" pitchFamily="50" charset="-128"/>
                <a:ea typeface="Meiryo UI" panose="020B0604030504040204" pitchFamily="50" charset="-128"/>
              </a:rPr>
              <a:t>など応答する</a:t>
            </a:r>
            <a:endParaRPr lang="en-US" altLang="ja-JP" sz="1200" dirty="0">
              <a:solidFill>
                <a:srgbClr val="FF0000"/>
              </a:solidFill>
              <a:latin typeface="Meiryo UI" panose="020B0604030504040204" pitchFamily="50" charset="-128"/>
              <a:ea typeface="Meiryo UI" panose="020B0604030504040204" pitchFamily="50" charset="-128"/>
            </a:endParaRPr>
          </a:p>
          <a:p>
            <a:r>
              <a:rPr kumimoji="1" lang="ja-JP" altLang="en-US" sz="1200" dirty="0">
                <a:solidFill>
                  <a:srgbClr val="FF0000"/>
                </a:solidFill>
                <a:latin typeface="Meiryo UI" panose="020B0604030504040204" pitchFamily="50" charset="-128"/>
                <a:ea typeface="Meiryo UI" panose="020B0604030504040204" pitchFamily="50" charset="-128"/>
              </a:rPr>
              <a:t>・デバイスグループが自分のデバイスグループ</a:t>
            </a:r>
            <a:r>
              <a:rPr kumimoji="1" lang="en-US" altLang="ja-JP" sz="1200" dirty="0">
                <a:solidFill>
                  <a:srgbClr val="FF0000"/>
                </a:solidFill>
                <a:latin typeface="Meiryo UI" panose="020B0604030504040204" pitchFamily="50" charset="-128"/>
                <a:ea typeface="Meiryo UI" panose="020B0604030504040204" pitchFamily="50" charset="-128"/>
              </a:rPr>
              <a:t>(</a:t>
            </a:r>
            <a:r>
              <a:rPr kumimoji="1" lang="ja-JP" altLang="en-US" sz="1200" dirty="0">
                <a:solidFill>
                  <a:srgbClr val="FF0000"/>
                </a:solidFill>
                <a:latin typeface="Meiryo UI" panose="020B0604030504040204" pitchFamily="50" charset="-128"/>
                <a:ea typeface="Meiryo UI" panose="020B0604030504040204" pitchFamily="50" charset="-128"/>
              </a:rPr>
              <a:t>個別</a:t>
            </a:r>
            <a:r>
              <a:rPr kumimoji="1" lang="en-US" altLang="ja-JP" sz="1200" dirty="0">
                <a:solidFill>
                  <a:srgbClr val="FF0000"/>
                </a:solidFill>
                <a:latin typeface="Meiryo UI" panose="020B0604030504040204" pitchFamily="50" charset="-128"/>
                <a:ea typeface="Meiryo UI" panose="020B0604030504040204" pitchFamily="50" charset="-128"/>
              </a:rPr>
              <a:t>)</a:t>
            </a:r>
            <a:r>
              <a:rPr lang="ja-JP" altLang="en-US" sz="1200" dirty="0">
                <a:solidFill>
                  <a:srgbClr val="FF0000"/>
                </a:solidFill>
                <a:latin typeface="Meiryo UI" panose="020B0604030504040204" pitchFamily="50" charset="-128"/>
                <a:ea typeface="Meiryo UI" panose="020B0604030504040204" pitchFamily="50" charset="-128"/>
              </a:rPr>
              <a:t>と一致</a:t>
            </a:r>
            <a:endParaRPr lang="en-US" altLang="ja-JP" sz="1200" dirty="0">
              <a:solidFill>
                <a:srgbClr val="FF0000"/>
              </a:solidFill>
              <a:latin typeface="Meiryo UI" panose="020B0604030504040204" pitchFamily="50" charset="-128"/>
              <a:ea typeface="Meiryo UI" panose="020B0604030504040204" pitchFamily="50" charset="-128"/>
            </a:endParaRPr>
          </a:p>
          <a:p>
            <a:r>
              <a:rPr kumimoji="1" lang="ja-JP" altLang="en-US" sz="1200" dirty="0">
                <a:solidFill>
                  <a:srgbClr val="FF0000"/>
                </a:solidFill>
                <a:latin typeface="Meiryo UI" panose="020B0604030504040204" pitchFamily="50" charset="-128"/>
                <a:ea typeface="Meiryo UI" panose="020B0604030504040204" pitchFamily="50" charset="-128"/>
              </a:rPr>
              <a:t>　⇒</a:t>
            </a:r>
            <a:r>
              <a:rPr kumimoji="1" lang="en-US" altLang="ja-JP" sz="1200" dirty="0" err="1">
                <a:solidFill>
                  <a:srgbClr val="FF0000"/>
                </a:solidFill>
                <a:latin typeface="Meiryo UI" panose="020B0604030504040204" pitchFamily="50" charset="-128"/>
                <a:ea typeface="Meiryo UI" panose="020B0604030504040204" pitchFamily="50" charset="-128"/>
              </a:rPr>
              <a:t>Ack</a:t>
            </a:r>
            <a:r>
              <a:rPr lang="en-US" altLang="ja-JP" sz="1200" dirty="0">
                <a:solidFill>
                  <a:srgbClr val="FF0000"/>
                </a:solidFill>
                <a:latin typeface="Meiryo UI" panose="020B0604030504040204" pitchFamily="50" charset="-128"/>
                <a:ea typeface="Meiryo UI" panose="020B0604030504040204" pitchFamily="50" charset="-128"/>
              </a:rPr>
              <a:t>/</a:t>
            </a:r>
            <a:r>
              <a:rPr kumimoji="1" lang="en-US" altLang="ja-JP" sz="1200" dirty="0" err="1">
                <a:solidFill>
                  <a:srgbClr val="FF0000"/>
                </a:solidFill>
                <a:latin typeface="Meiryo UI" panose="020B0604030504040204" pitchFamily="50" charset="-128"/>
                <a:ea typeface="Meiryo UI" panose="020B0604030504040204" pitchFamily="50" charset="-128"/>
              </a:rPr>
              <a:t>Nack</a:t>
            </a:r>
            <a:r>
              <a:rPr kumimoji="1" lang="ja-JP" altLang="en-US" sz="1200" dirty="0">
                <a:solidFill>
                  <a:srgbClr val="FF0000"/>
                </a:solidFill>
                <a:latin typeface="Meiryo UI" panose="020B0604030504040204" pitchFamily="50" charset="-128"/>
                <a:ea typeface="Meiryo UI" panose="020B0604030504040204" pitchFamily="50" charset="-128"/>
              </a:rPr>
              <a:t>など応答する</a:t>
            </a:r>
            <a:endParaRPr kumimoji="1" lang="en-US" altLang="ja-JP" sz="1200" dirty="0">
              <a:solidFill>
                <a:srgbClr val="FF0000"/>
              </a:solidFill>
              <a:latin typeface="Meiryo UI" panose="020B0604030504040204" pitchFamily="50" charset="-128"/>
              <a:ea typeface="Meiryo UI" panose="020B0604030504040204" pitchFamily="50" charset="-128"/>
            </a:endParaRPr>
          </a:p>
          <a:p>
            <a:r>
              <a:rPr lang="ja-JP" altLang="en-US" sz="1200" dirty="0">
                <a:solidFill>
                  <a:srgbClr val="FF0000"/>
                </a:solidFill>
                <a:latin typeface="Meiryo UI" panose="020B0604030504040204" pitchFamily="50" charset="-128"/>
                <a:ea typeface="Meiryo UI" panose="020B0604030504040204" pitchFamily="50" charset="-128"/>
              </a:rPr>
              <a:t>・デバイスグループが自分のデバイスグループ</a:t>
            </a:r>
            <a:r>
              <a:rPr lang="en-US" altLang="ja-JP" sz="1200" dirty="0">
                <a:solidFill>
                  <a:srgbClr val="FF0000"/>
                </a:solidFill>
                <a:latin typeface="Meiryo UI" panose="020B0604030504040204" pitchFamily="50" charset="-128"/>
                <a:ea typeface="Meiryo UI" panose="020B0604030504040204" pitchFamily="50" charset="-128"/>
              </a:rPr>
              <a:t>(</a:t>
            </a:r>
            <a:r>
              <a:rPr lang="ja-JP" altLang="en-US" sz="1200" dirty="0">
                <a:solidFill>
                  <a:srgbClr val="FF0000"/>
                </a:solidFill>
                <a:latin typeface="Meiryo UI" panose="020B0604030504040204" pitchFamily="50" charset="-128"/>
                <a:ea typeface="Meiryo UI" panose="020B0604030504040204" pitchFamily="50" charset="-128"/>
              </a:rPr>
              <a:t>個別</a:t>
            </a:r>
            <a:r>
              <a:rPr lang="en-US" altLang="ja-JP" sz="1200" dirty="0">
                <a:solidFill>
                  <a:srgbClr val="FF0000"/>
                </a:solidFill>
                <a:latin typeface="Meiryo UI" panose="020B0604030504040204" pitchFamily="50" charset="-128"/>
                <a:ea typeface="Meiryo UI" panose="020B0604030504040204" pitchFamily="50" charset="-128"/>
              </a:rPr>
              <a:t>)</a:t>
            </a:r>
            <a:r>
              <a:rPr lang="ja-JP" altLang="en-US" sz="1200" dirty="0">
                <a:solidFill>
                  <a:srgbClr val="FF0000"/>
                </a:solidFill>
                <a:latin typeface="Meiryo UI" panose="020B0604030504040204" pitchFamily="50" charset="-128"/>
                <a:ea typeface="Meiryo UI" panose="020B0604030504040204" pitchFamily="50" charset="-128"/>
              </a:rPr>
              <a:t>と不一致</a:t>
            </a:r>
            <a:endParaRPr lang="en-US" altLang="ja-JP" sz="1200" dirty="0">
              <a:solidFill>
                <a:srgbClr val="FF0000"/>
              </a:solidFill>
              <a:latin typeface="Meiryo UI" panose="020B0604030504040204" pitchFamily="50" charset="-128"/>
              <a:ea typeface="Meiryo UI" panose="020B0604030504040204" pitchFamily="50" charset="-128"/>
            </a:endParaRPr>
          </a:p>
          <a:p>
            <a:r>
              <a:rPr kumimoji="1" lang="ja-JP" altLang="en-US" sz="1200" dirty="0">
                <a:solidFill>
                  <a:srgbClr val="FF0000"/>
                </a:solidFill>
                <a:latin typeface="Meiryo UI" panose="020B0604030504040204" pitchFamily="50" charset="-128"/>
                <a:ea typeface="Meiryo UI" panose="020B0604030504040204" pitchFamily="50" charset="-128"/>
              </a:rPr>
              <a:t>　⇒無応答</a:t>
            </a:r>
            <a:endParaRPr kumimoji="1" lang="en-US" altLang="ja-JP" sz="1200" dirty="0">
              <a:solidFill>
                <a:srgbClr val="FF0000"/>
              </a:solidFill>
              <a:latin typeface="Meiryo UI" panose="020B0604030504040204" pitchFamily="50" charset="-128"/>
              <a:ea typeface="Meiryo UI" panose="020B0604030504040204" pitchFamily="50" charset="-128"/>
            </a:endParaRPr>
          </a:p>
        </p:txBody>
      </p:sp>
      <p:cxnSp>
        <p:nvCxnSpPr>
          <p:cNvPr id="129" name="直線矢印コネクタ 128"/>
          <p:cNvCxnSpPr/>
          <p:nvPr/>
        </p:nvCxnSpPr>
        <p:spPr>
          <a:xfrm flipV="1">
            <a:off x="4068341" y="3954524"/>
            <a:ext cx="1308935" cy="13333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25CD0DA4-93E8-2E30-0329-E5E25C900333}"/>
              </a:ext>
            </a:extLst>
          </p:cNvPr>
          <p:cNvPicPr>
            <a:picLocks noChangeAspect="1"/>
          </p:cNvPicPr>
          <p:nvPr/>
        </p:nvPicPr>
        <p:blipFill>
          <a:blip r:embed="rId2"/>
          <a:stretch>
            <a:fillRect/>
          </a:stretch>
        </p:blipFill>
        <p:spPr>
          <a:xfrm>
            <a:off x="208571" y="5319267"/>
            <a:ext cx="2790028" cy="1331604"/>
          </a:xfrm>
          <a:prstGeom prst="rect">
            <a:avLst/>
          </a:prstGeom>
        </p:spPr>
      </p:pic>
    </p:spTree>
    <p:extLst>
      <p:ext uri="{BB962C8B-B14F-4D97-AF65-F5344CB8AC3E}">
        <p14:creationId xmlns:p14="http://schemas.microsoft.com/office/powerpoint/2010/main" val="54778121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048136c-a4b0-47bf-a926-0f6f9dfc3f5c" xsi:nil="true"/>
    <lcf76f155ced4ddcb4097134ff3c332f xmlns="9279e5f9-c285-4407-adbd-5fb23bf8793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D2C34F2AC6F83488D1D74F99689AB4B" ma:contentTypeVersion="15" ma:contentTypeDescription="Create a new document." ma:contentTypeScope="" ma:versionID="ea7265795a36dbbd08d3abef0aad9022">
  <xsd:schema xmlns:xsd="http://www.w3.org/2001/XMLSchema" xmlns:xs="http://www.w3.org/2001/XMLSchema" xmlns:p="http://schemas.microsoft.com/office/2006/metadata/properties" xmlns:ns2="9279e5f9-c285-4407-adbd-5fb23bf87939" xmlns:ns3="3048136c-a4b0-47bf-a926-0f6f9dfc3f5c" targetNamespace="http://schemas.microsoft.com/office/2006/metadata/properties" ma:root="true" ma:fieldsID="c888f23a1cbc048de6cb5618e1eaad21" ns2:_="" ns3:_="">
    <xsd:import namespace="9279e5f9-c285-4407-adbd-5fb23bf87939"/>
    <xsd:import namespace="3048136c-a4b0-47bf-a926-0f6f9dfc3f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79e5f9-c285-4407-adbd-5fb23bf879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c3282b9-7e5c-4006-bd6f-6aea32a4344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048136c-a4b0-47bf-a926-0f6f9dfc3f5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7703353-08fe-4e18-9ce1-c4f63d554ef8}" ma:internalName="TaxCatchAll" ma:showField="CatchAllData" ma:web="3048136c-a4b0-47bf-a926-0f6f9dfc3f5c">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F9DD76-EBCC-4B1A-8356-526A8C007DD0}">
  <ds:schemaRefs>
    <ds:schemaRef ds:uri="http://schemas.microsoft.com/office/2006/metadata/properties"/>
    <ds:schemaRef ds:uri="http://schemas.microsoft.com/office/infopath/2007/PartnerControls"/>
    <ds:schemaRef ds:uri="3048136c-a4b0-47bf-a926-0f6f9dfc3f5c"/>
    <ds:schemaRef ds:uri="9279e5f9-c285-4407-adbd-5fb23bf87939"/>
  </ds:schemaRefs>
</ds:datastoreItem>
</file>

<file path=customXml/itemProps2.xml><?xml version="1.0" encoding="utf-8"?>
<ds:datastoreItem xmlns:ds="http://schemas.openxmlformats.org/officeDocument/2006/customXml" ds:itemID="{54F0EB1B-4C00-4C2A-ADF2-F9FE7B364E3A}">
  <ds:schemaRefs>
    <ds:schemaRef ds:uri="http://schemas.microsoft.com/sharepoint/v3/contenttype/forms"/>
  </ds:schemaRefs>
</ds:datastoreItem>
</file>

<file path=customXml/itemProps3.xml><?xml version="1.0" encoding="utf-8"?>
<ds:datastoreItem xmlns:ds="http://schemas.openxmlformats.org/officeDocument/2006/customXml" ds:itemID="{8F80CEE0-E51A-4E99-8136-20DF3A2371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279e5f9-c285-4407-adbd-5fb23bf87939"/>
    <ds:schemaRef ds:uri="3048136c-a4b0-47bf-a926-0f6f9dfc3f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313</TotalTime>
  <Words>498</Words>
  <Application>Microsoft Office PowerPoint</Application>
  <PresentationFormat>ワイド画面</PresentationFormat>
  <Paragraphs>117</Paragraphs>
  <Slides>1</Slides>
  <Notes>0</Notes>
  <HiddenSlides>0</HiddenSlides>
  <MMClips>0</MMClips>
  <ScaleCrop>false</ScaleCrop>
  <HeadingPairs>
    <vt:vector size="4" baseType="variant">
      <vt:variant>
        <vt:lpstr>テーマ</vt:lpstr>
      </vt:variant>
      <vt:variant>
        <vt:i4>1</vt:i4>
      </vt:variant>
      <vt:variant>
        <vt:lpstr>スライド タイトル</vt:lpstr>
      </vt:variant>
      <vt:variant>
        <vt:i4>1</vt:i4>
      </vt:variant>
    </vt:vector>
  </HeadingPairs>
  <TitlesOfParts>
    <vt:vector size="2" baseType="lpstr">
      <vt:lpstr>Office テーマ</vt:lpstr>
      <vt:lpstr>PowerPoint プレゼンテーション</vt:lpstr>
    </vt:vector>
  </TitlesOfParts>
  <Company>Toshiba Carrier Corpration.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komazaki nariya(駒崎 就哉 ＴＣＣ ○富士□エレ設○Ｆ設)</dc:creator>
  <cp:lastModifiedBy>sakurai kouichirou(櫻井 廣一郎 ＴＣＣ ○技統□ＳＳ開○ＳＣ開)</cp:lastModifiedBy>
  <cp:revision>89</cp:revision>
  <dcterms:created xsi:type="dcterms:W3CDTF">2019-11-13T23:30:41Z</dcterms:created>
  <dcterms:modified xsi:type="dcterms:W3CDTF">2024-11-07T04:09:04Z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0x010100FD2C34F2AC6F83488D1D74F99689AB4B</vt:lpwstr>
  </property>
  <property fmtid="{D5CDD505-2E9C-101B-9397-08002B2CF9AE}" pid="3" name="Order">
    <vt:r8>33901400</vt:r8>
  </property>
  <property fmtid="{D5CDD505-2E9C-101B-9397-08002B2CF9AE}" pid="4" name="MediaServiceImageTags">
    <vt:lpwstr/>
  </property>
  <property fmtid="{D5CDD505-2E9C-101B-9397-08002B2CF9AE}" pid="5" name="MSIP_Label_b7864bb8-b671-4bed-ba85-9478127ab5e9_Enabled">
    <vt:lpwstr>true</vt:lpwstr>
  </property>
  <property fmtid="{D5CDD505-2E9C-101B-9397-08002B2CF9AE}" pid="6" name="MSIP_Label_b7864bb8-b671-4bed-ba85-9478127ab5e9_SetDate">
    <vt:lpwstr>2024-11-07T04:09:04Z</vt:lpwstr>
  </property>
  <property fmtid="{D5CDD505-2E9C-101B-9397-08002B2CF9AE}" pid="7" name="MSIP_Label_b7864bb8-b671-4bed-ba85-9478127ab5e9_Method">
    <vt:lpwstr>Standard</vt:lpwstr>
  </property>
  <property fmtid="{D5CDD505-2E9C-101B-9397-08002B2CF9AE}" pid="8" name="MSIP_Label_b7864bb8-b671-4bed-ba85-9478127ab5e9_Name">
    <vt:lpwstr>Confidential – 2023</vt:lpwstr>
  </property>
  <property fmtid="{D5CDD505-2E9C-101B-9397-08002B2CF9AE}" pid="9" name="MSIP_Label_b7864bb8-b671-4bed-ba85-9478127ab5e9_SiteId">
    <vt:lpwstr>36839a65-7f3f-4bac-9ea4-f571f10a9a03</vt:lpwstr>
  </property>
  <property fmtid="{D5CDD505-2E9C-101B-9397-08002B2CF9AE}" pid="10" name="MSIP_Label_b7864bb8-b671-4bed-ba85-9478127ab5e9_ActionId">
    <vt:lpwstr>44ffe8b5-06f5-4c1b-82d9-6c7d19f1d65d</vt:lpwstr>
  </property>
  <property fmtid="{D5CDD505-2E9C-101B-9397-08002B2CF9AE}" pid="11" name="MSIP_Label_b7864bb8-b671-4bed-ba85-9478127ab5e9_ContentBits">
    <vt:lpwstr>0</vt:lpwstr>
  </property>
</Properties>
</file>